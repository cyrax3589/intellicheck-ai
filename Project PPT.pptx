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83" r:id="rId2"/>
    <p:sldId id="257" r:id="rId3"/>
    <p:sldId id="282" r:id="rId4"/>
    <p:sldId id="284" r:id="rId5"/>
    <p:sldId id="285" r:id="rId6"/>
    <p:sldId id="281" r:id="rId7"/>
    <p:sldId id="279" r:id="rId8"/>
    <p:sldId id="262" r:id="rId9"/>
    <p:sldId id="264" r:id="rId10"/>
    <p:sldId id="286" r:id="rId11"/>
    <p:sldId id="280" r:id="rId12"/>
    <p:sldId id="277" r:id="rId13"/>
    <p:sldId id="276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86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0A8E369-C804-D8D2-383B-03E8A547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168FC73D-F867-8E13-0025-1B4081892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49581B4-9B47-7782-B749-078618A6E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5151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yrax3589/IntelliCheck-AI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4"/>
            <a:ext cx="10515600" cy="658812"/>
          </a:xfrm>
        </p:spPr>
        <p:txBody>
          <a:bodyPr/>
          <a:lstStyle/>
          <a:p>
            <a:pPr algn="ctr"/>
            <a:r>
              <a:rPr lang="en-US" b="1" i="1" dirty="0"/>
              <a:t>“</a:t>
            </a:r>
            <a:r>
              <a:rPr lang="en-US" b="1" i="1" dirty="0" err="1"/>
              <a:t>IntelliCheck</a:t>
            </a:r>
            <a:r>
              <a:rPr lang="en-US" b="1" i="1" dirty="0"/>
              <a:t> AI - AI-Driven Plagiarism Intelligence for Assignments”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3184920765"/>
              </p:ext>
            </p:extLst>
          </p:nvPr>
        </p:nvGraphicFramePr>
        <p:xfrm>
          <a:off x="892881" y="2674508"/>
          <a:ext cx="10679687" cy="1833981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3472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74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74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74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181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Debabrata Kuiry</a:t>
                      </a:r>
                      <a:endParaRPr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debabratakuiry2002@gmail.com</a:t>
                      </a:r>
                      <a:endParaRPr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8637067507</a:t>
                      </a:r>
                      <a:endParaRPr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98" name="Google Shape;98;p2"/>
          <p:cNvPicPr preferRelativeResize="0"/>
          <p:nvPr/>
        </p:nvPicPr>
        <p:blipFill>
          <a:blip r:embed="rId3"/>
          <a:srcRect/>
          <a:stretch/>
        </p:blipFill>
        <p:spPr>
          <a:xfrm>
            <a:off x="4155468" y="3491328"/>
            <a:ext cx="866528" cy="86652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99257" y="1466747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US" sz="2400" b="1" dirty="0">
                <a:solidFill>
                  <a:srgbClr val="002060"/>
                </a:solidFill>
                <a:latin typeface="Times New Roman"/>
                <a:cs typeface="Times New Roman"/>
              </a:rPr>
              <a:t>Education</a:t>
            </a:r>
            <a:endParaRPr lang="en-IN" sz="2400" b="1" dirty="0">
              <a:solidFill>
                <a:srgbClr val="002060"/>
              </a:solidFill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603081" y="535397"/>
            <a:ext cx="113922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/>
              <a:t>Project Tile – </a:t>
            </a:r>
            <a:r>
              <a:rPr lang="en-US" sz="2400" b="1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IntelliCheck</a:t>
            </a:r>
            <a:r>
              <a:rPr lang="en-US" sz="24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AI - AI-Driven Plagiarism Intelligence for Assignments</a:t>
            </a:r>
            <a:endParaRPr lang="en-IN" sz="24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944655"/>
            <a:ext cx="6975102" cy="37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: AI-Driven Plagiarism Intelligence for Assignments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330462"/>
            <a:ext cx="11615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– 10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D3FFED-159E-22C9-B543-0270A1A3EC79}"/>
              </a:ext>
            </a:extLst>
          </p:cNvPr>
          <p:cNvSpPr txBox="1"/>
          <p:nvPr/>
        </p:nvSpPr>
        <p:spPr>
          <a:xfrm>
            <a:off x="6790059" y="2409586"/>
            <a:ext cx="5401941" cy="3331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</a:t>
            </a:r>
          </a:p>
          <a:p>
            <a:pPr algn="just">
              <a:lnSpc>
                <a:spcPct val="150000"/>
              </a:lnSpc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intelligent academic integrity system that:</a:t>
            </a:r>
          </a:p>
          <a:p>
            <a:pPr marL="28575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plagiarism and content duplication.</a:t>
            </a:r>
          </a:p>
          <a:p>
            <a:pPr marL="28575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AI-generated writing indicators.</a:t>
            </a:r>
          </a:p>
          <a:p>
            <a:pPr marL="28575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Recognizes paraphrased and suspicious content.</a:t>
            </a:r>
          </a:p>
          <a:p>
            <a:pPr marL="28575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Evaluates writing consistency.</a:t>
            </a:r>
          </a:p>
          <a:p>
            <a:pPr marL="28575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 from historical academic integrity cases.</a:t>
            </a:r>
          </a:p>
          <a:p>
            <a:pPr marL="28575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faculty with contextual risk assessments.</a:t>
            </a:r>
          </a:p>
          <a:p>
            <a:pPr marL="28575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actionable academic integrity reports.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99A3F2-7A40-8CA7-3E71-7CFF954C0754}"/>
              </a:ext>
            </a:extLst>
          </p:cNvPr>
          <p:cNvSpPr txBox="1"/>
          <p:nvPr/>
        </p:nvSpPr>
        <p:spPr>
          <a:xfrm>
            <a:off x="576072" y="2409586"/>
            <a:ext cx="5401941" cy="20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</a:t>
            </a:r>
          </a:p>
          <a:p>
            <a:pPr algn="just">
              <a:lnSpc>
                <a:spcPct val="150000"/>
              </a:lnSpc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institutions face increasing difficulty in detecting plagiarism, AI-generated content, and sophisticated paraphrasing in student assignments. Traditional plagiarism tools often fail to understand context, instructor expectations, and evolving AI writing patterns.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A77E81F-021A-57FB-C709-7E7075649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D926A1-0833-2949-651F-2AAB4D91A8C9}"/>
              </a:ext>
            </a:extLst>
          </p:cNvPr>
          <p:cNvSpPr txBox="1"/>
          <p:nvPr/>
        </p:nvSpPr>
        <p:spPr>
          <a:xfrm>
            <a:off x="576072" y="401875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 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1A75E4-3A55-4FDC-2AEA-E60C6D37F985}"/>
              </a:ext>
            </a:extLst>
          </p:cNvPr>
          <p:cNvSpPr txBox="1"/>
          <p:nvPr/>
        </p:nvSpPr>
        <p:spPr>
          <a:xfrm>
            <a:off x="576072" y="1110221"/>
            <a:ext cx="60940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4FB1EB-1173-B231-D1EF-D2988BAE5898}"/>
              </a:ext>
            </a:extLst>
          </p:cNvPr>
          <p:cNvSpPr txBox="1"/>
          <p:nvPr/>
        </p:nvSpPr>
        <p:spPr>
          <a:xfrm>
            <a:off x="576072" y="1645462"/>
            <a:ext cx="296582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watsonx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Orchestrate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creating and managing intelligent academic integrity agents.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0CC70C-6EEA-A95C-72A1-CAE56F2B2B84}"/>
              </a:ext>
            </a:extLst>
          </p:cNvPr>
          <p:cNvSpPr txBox="1"/>
          <p:nvPr/>
        </p:nvSpPr>
        <p:spPr>
          <a:xfrm>
            <a:off x="576072" y="3317396"/>
            <a:ext cx="276856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Cloud Lite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cloud infrastructure and deployment environment.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F054EC-54CC-84B3-F250-D5AEB68908F6}"/>
              </a:ext>
            </a:extLst>
          </p:cNvPr>
          <p:cNvSpPr txBox="1"/>
          <p:nvPr/>
        </p:nvSpPr>
        <p:spPr>
          <a:xfrm>
            <a:off x="576072" y="4842075"/>
            <a:ext cx="276856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Agentic AI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Coordinates multiple specialized agents for assignment evaluation.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863F17-26E2-6953-1630-83A67A53C3BE}"/>
              </a:ext>
            </a:extLst>
          </p:cNvPr>
          <p:cNvSpPr txBox="1"/>
          <p:nvPr/>
        </p:nvSpPr>
        <p:spPr>
          <a:xfrm>
            <a:off x="3535695" y="1645462"/>
            <a:ext cx="281594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Granite Models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reasoning, classification, report generation, and content analysis.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393DE7-7698-E3F9-4BBA-35138395D622}"/>
              </a:ext>
            </a:extLst>
          </p:cNvPr>
          <p:cNvSpPr txBox="1"/>
          <p:nvPr/>
        </p:nvSpPr>
        <p:spPr>
          <a:xfrm>
            <a:off x="3535696" y="3316311"/>
            <a:ext cx="265862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Base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academic policies, plagiarism cases, and faculty guidelines.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ACD701-9AA8-03FB-54DF-C8979B26F415}"/>
              </a:ext>
            </a:extLst>
          </p:cNvPr>
          <p:cNvSpPr txBox="1"/>
          <p:nvPr/>
        </p:nvSpPr>
        <p:spPr>
          <a:xfrm>
            <a:off x="7295471" y="1110221"/>
            <a:ext cx="4966599" cy="3007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Cloud Lite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watsonx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Orchestrate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watsonx.ai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Granite Foundation Models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Base (RAG-style retrieval)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Multi-Agent Architecture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Engineering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Integrity Knowledge Repository</a:t>
            </a:r>
          </a:p>
        </p:txBody>
      </p:sp>
    </p:spTree>
    <p:extLst>
      <p:ext uri="{BB962C8B-B14F-4D97-AF65-F5344CB8AC3E}">
        <p14:creationId xmlns:p14="http://schemas.microsoft.com/office/powerpoint/2010/main" val="4218467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725346" y="1637562"/>
            <a:ext cx="4563087" cy="1992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–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IntelliCheck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</a:t>
            </a:r>
          </a:p>
          <a:p>
            <a:pPr algn="just">
              <a:lnSpc>
                <a:spcPct val="150000"/>
              </a:lnSpc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IntelliCheck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is an AI-powered academic integrity system that analyzes student assignments for plagiarism, AI-generated content, paraphrasing, and writing inconsistencies. The system combines multiple specialized agents to perform comprehensive academic integrity analysis.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-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CA81DE-92F9-8E1D-463B-8EA766A73D4B}"/>
              </a:ext>
            </a:extLst>
          </p:cNvPr>
          <p:cNvSpPr txBox="1"/>
          <p:nvPr/>
        </p:nvSpPr>
        <p:spPr>
          <a:xfrm>
            <a:off x="6096000" y="1637562"/>
            <a:ext cx="5370654" cy="3607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  <a:p>
            <a:pPr algn="just">
              <a:lnSpc>
                <a:spcPct val="150000"/>
              </a:lnSpc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Writing Quality Assessment</a:t>
            </a:r>
          </a:p>
          <a:p>
            <a:pPr marL="28575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Content Detection</a:t>
            </a:r>
          </a:p>
          <a:p>
            <a:pPr marL="28575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 Analysis</a:t>
            </a:r>
          </a:p>
          <a:p>
            <a:pPr marL="28575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Risk Classification</a:t>
            </a:r>
          </a:p>
          <a:p>
            <a:pPr marL="28575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Recommendation Generation</a:t>
            </a:r>
          </a:p>
          <a:p>
            <a:pPr marL="28575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Integrity Reporting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provides faculty members with contextual and explainable decisions instead of simple similarity percentages.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216386" y="196732"/>
            <a:ext cx="6541636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IBM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watsonx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 Orchestrate Components Used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216386" y="771747"/>
            <a:ext cx="6112792" cy="6054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Chat Input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where students, faculty, or reviewers submit assignment text, essays, reports, and research papers for academic integrity analysis.</a:t>
            </a:r>
          </a:p>
          <a:p>
            <a:pPr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Assignment Integrity Agent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AI agent built in IBM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watsonx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Orchestrate that coordinates plagiarism detection, AI-content assessment, similarity analysis, and risk evaluation.</a:t>
            </a:r>
          </a:p>
          <a:p>
            <a:pPr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Foundation Model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Granite Model (Prompt Lab)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GPT-OSS 120B (Orchestrate Runtime)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for assignment analysis, reasoning, report generation, and academic integrity assessment.</a:t>
            </a:r>
          </a:p>
          <a:p>
            <a:pPr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Chat Output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 structured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Integrity Report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containing:</a:t>
            </a:r>
          </a:p>
          <a:p>
            <a:pPr marL="28575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Writing Quality Assessment </a:t>
            </a:r>
          </a:p>
          <a:p>
            <a:pPr marL="28575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 Analysis </a:t>
            </a:r>
          </a:p>
          <a:p>
            <a:pPr marL="28575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Content Indicators </a:t>
            </a:r>
          </a:p>
          <a:p>
            <a:pPr marL="28575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Level </a:t>
            </a:r>
          </a:p>
          <a:p>
            <a:pPr marL="28575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Recommendation </a:t>
            </a:r>
          </a:p>
          <a:p>
            <a:pPr marL="28575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Verdict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89B880-C7A7-B855-27A6-57DD967D1EBE}"/>
              </a:ext>
            </a:extLst>
          </p:cNvPr>
          <p:cNvSpPr txBox="1"/>
          <p:nvPr/>
        </p:nvSpPr>
        <p:spPr>
          <a:xfrm>
            <a:off x="6329178" y="915214"/>
            <a:ext cx="5810865" cy="4992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5) Knowledge Component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and retrieves academic integrity guidelines, institutional policies, sample assignments, faculty feedback, and reference documents used for contextual analysis.</a:t>
            </a:r>
          </a:p>
          <a:p>
            <a:pPr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6) Additional Components Used</a:t>
            </a:r>
          </a:p>
          <a:p>
            <a:pPr lvl="3"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watsonx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Prompt Lab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3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engineering </a:t>
            </a:r>
          </a:p>
          <a:p>
            <a:pPr marL="285750" lvl="3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plagiarism-analysis prompts </a:t>
            </a:r>
          </a:p>
          <a:p>
            <a:pPr marL="285750" lvl="3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experimentation </a:t>
            </a:r>
          </a:p>
          <a:p>
            <a:pPr lvl="3"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watsonx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Orchestrate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3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creation </a:t>
            </a:r>
          </a:p>
          <a:p>
            <a:pPr marL="285750" lvl="3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management </a:t>
            </a:r>
          </a:p>
          <a:p>
            <a:pPr marL="285750" lvl="3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and testing </a:t>
            </a:r>
          </a:p>
          <a:p>
            <a:pPr lvl="3"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Cloud Lite Services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3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Cloud-based deployment and hosting environment</a:t>
            </a:r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BF3590-52D3-DC9D-2C84-E66D9597D7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0862" y="1066220"/>
            <a:ext cx="11710276" cy="5544892"/>
          </a:xfrm>
          <a:prstGeom prst="rect">
            <a:avLst/>
          </a:prstGeom>
        </p:spPr>
      </p:pic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IBM Orchestrate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>
                <a:sym typeface="Times New Roman"/>
              </a:rPr>
              <a:t>workflow</a:t>
            </a:r>
            <a:endParaRPr sz="2400" b="1" dirty="0"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7"/>
          <p:cNvPicPr preferRelativeResize="0"/>
          <p:nvPr/>
        </p:nvPicPr>
        <p:blipFill>
          <a:blip r:embed="rId3"/>
          <a:srcRect/>
          <a:stretch/>
        </p:blipFill>
        <p:spPr>
          <a:xfrm>
            <a:off x="401530" y="622592"/>
            <a:ext cx="11388939" cy="591216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in the solution 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475488" y="1301590"/>
            <a:ext cx="7750193" cy="42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of Agentic AI in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Plagarism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Agent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Integrity Agent acts as the central coordinator for academic integrity analysis.</a:t>
            </a:r>
          </a:p>
          <a:p>
            <a:pPr marL="28575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Autonomously evaluates assignments for plagiarism indicators, content duplication, and writing inconsistencies.</a:t>
            </a:r>
          </a:p>
          <a:p>
            <a:pPr marL="28575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similarity analysis to detect repeated or suspicious content patterns.</a:t>
            </a:r>
          </a:p>
          <a:p>
            <a:pPr marL="28575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Assesses AI-generated content indicators through contextual language analysis.</a:t>
            </a:r>
          </a:p>
          <a:p>
            <a:pPr marL="28575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structured Academic Integrity Reports with risk levels and supporting evidence.</a:t>
            </a:r>
          </a:p>
          <a:p>
            <a:pPr marL="28575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faculty decision support through recommendations and academic misconduct alerts.</a:t>
            </a:r>
          </a:p>
          <a:p>
            <a:pPr marL="28575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contextual awareness by utilizing institutional guidelines and academic integrity knowledge sources.</a:t>
            </a:r>
          </a:p>
          <a:p>
            <a:pPr marL="28575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review effort while enabling faster and more consistent evaluation of student submissions.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38862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38E1726-569A-3116-6792-E91B6C9B0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" y="946297"/>
            <a:ext cx="11414760" cy="58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IntelliCheck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solution stands out by combining Agentic AI, academic integrity intelligence, and contextual analysis into a single intelligent platform for assignment evaluation.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Multi-Agent Intelligence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Instead of relying on a single plagiarism checker, multiple specialized AI agents collaborate to analyze writing quality, similarity patterns, AI-generated content indicators, and academic misconduct risks.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Context-Aware Analysis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Goes beyond keyword matching by evaluating writing structure, content consistency, duplication patterns, and suspicious academic behaviors within the assignment.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Academic Integrity Intelligence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Generates comprehensive Academic Integrity Reports containing risk assessments, suspicious indicators, and evidence-based faculty recommendations.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Faculty Decision Support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Assists educators by providing actionable insights and investigation guidance rather than only reporting similarity percentages.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Knowledge-Driven Evaluation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Utilizes academic integrity policies, citation guidelines, and institutional standards to provide more informed assessments.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Adaptive Risk Classification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Categorizes submissions into LOW, MEDIUM, or HIGH risk levels based on multiple integrity indicators instead of a single metric.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IBM-Powered Architecture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Built using IBM Cloud Lite, IBM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watsonx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Prompt Lab, and IBM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watsonx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Orchestrate, ensuring scalability, governance, and enterprise-grade AI capabilities.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Practical Academic Impact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Reduces manual review effort, improves consistency in assignment evaluation, and strengthens institutional academic integrity processes.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makes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IntelliCheck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AI an intelligent academic integrity assistant that provides contextual analysis and decision support, rather than functioning as a traditional plagiarism detection tool.</a:t>
            </a:r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963085" y="430127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963085" y="1221715"/>
            <a:ext cx="10963444" cy="503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Learning &amp; Faculty Feedback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the system to learn from past assignments and instructor feedback for more accurate academic integrity assessment.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LMS Integration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with Moodle, Canvas, and Google Classroom for automatic assignment screening and report generation.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Analysis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plagiarism and AI-content detection across multiple languages.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IBM Granite Integration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Leverage future IBM Granite models for improved reasoning, contextual analysis, and risk assessment.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Integrity Dashboard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institutions with analytics on plagiarism trends, risk levels, and misconduct patterns.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GitHub Link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15507A2F-9304-7475-5C74-2BAA93879CFE}"/>
              </a:ext>
            </a:extLst>
          </p:cNvPr>
          <p:cNvSpPr/>
          <p:nvPr/>
        </p:nvSpPr>
        <p:spPr>
          <a:xfrm>
            <a:off x="1218724" y="1344479"/>
            <a:ext cx="783678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 Repository URL – 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https://github.com/cyrax3589/IntelliCheck-AI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1320</TotalTime>
  <Words>1004</Words>
  <Application>Microsoft Office PowerPoint</Application>
  <PresentationFormat>Widescreen</PresentationFormat>
  <Paragraphs>131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Courier New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Debabrata Kuiry</cp:lastModifiedBy>
  <cp:revision>43</cp:revision>
  <dcterms:created xsi:type="dcterms:W3CDTF">2025-07-08T05:06:56Z</dcterms:created>
  <dcterms:modified xsi:type="dcterms:W3CDTF">2026-06-02T10:29:57Z</dcterms:modified>
</cp:coreProperties>
</file>